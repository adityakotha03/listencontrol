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78F6B"/>
    <a:srgbClr val="C4E0BA"/>
    <a:srgbClr val="DDEAD6"/>
    <a:srgbClr val="F8E6A6"/>
    <a:srgbClr val="F9E7A9"/>
    <a:srgbClr val="F9E5A6"/>
    <a:srgbClr val="FDEFCA"/>
    <a:srgbClr val="BEAB6E"/>
    <a:srgbClr val="F1CAC5"/>
    <a:srgbClr val="B489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F7669-9E7C-0692-54DF-071427FDC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F43B9C-47A0-8FBC-54A3-E809EE03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FF076-2C81-A515-42F3-A2AC598B9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416B02-0DFB-3057-3B77-91755B52F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65EFE-7E7D-DD7A-11C5-5CE07CEF4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8682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46304-D013-A542-CA89-052A81219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52E85-2626-8960-0752-161F397BC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9F8F6-6026-01B1-BA7D-DA53C76FC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C1D0A-EE21-F4A2-BB4E-E92F6556A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277FFB-9A88-C898-5F48-90D0BC19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06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EEC65-9F96-9FDA-2855-AE5C0889B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128A4-5FC6-DC57-94FA-E26ADEB366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D9442-B61D-B6B8-FF11-ED202FBAC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B119EF-5F59-EA40-B834-572888597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51D84C-F967-187A-02EC-AEC19FD06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1583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8B8CA-A0D3-A304-505D-96282D29A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672060-E624-DF63-3023-38090E6A11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5B2077-523F-4621-754D-4F753FFDF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C4E72B-07AE-001E-ABFB-82A3AE9F4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00F7A2-AAB9-F4CC-EE93-FCB8F5C96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AF91B8-D6D7-12D7-2493-A18B5EE24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7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20141-0C0E-0EF8-DA96-63A76D7A5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449D9F-E2B8-7CB7-C632-D8F25CB37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8293F-2663-E29C-0642-7CBC769D38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7A4DD9-6C57-3E01-F0DD-86369C45B4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C8200-9A7A-0B31-B966-B439FB417D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1909DB-C4D0-7CB4-4212-3FFEF66C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C0347D-163D-A75C-7CD0-8BBB3C21A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1BAC736-4149-C293-AFDA-245FF839F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357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3393B-00A5-83FA-6BE2-F2861EAAA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E748C6-ECAD-2780-37A2-D861368FC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055BAA-BFC9-626B-B31C-1172A429B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DBC092-5D18-0FB0-0328-54DA23CB4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637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10EB7A-6931-70F8-F058-C1F76E0CD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9225C6-5D70-DB24-862E-80115BDD9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68D9F-3974-382C-C4D3-CB2D51A1E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149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3091E-3DB6-CE3A-1EFE-FC5F62785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BE1AF-78E1-1566-6C84-1D15CE774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FAC851-01A3-2D34-8AFD-F1BB7A025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8B885-3C5E-DF58-0815-1FC328431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903E9E-0BD2-FBB8-F394-FAE83DF52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8180E0-8BF1-37A6-556D-1DAF75C89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007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0586D-8AEB-4884-49D7-B38D932ED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8D0269-648A-C2FC-F41B-CFDF05BFEE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76A9C0-C513-8289-E0BE-454DED9E7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CAD512-0B01-62D0-6BB9-A64ACBEF9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85263B-DDF2-E96A-36C0-2A65C089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B29FB5-A7A8-1E19-53B7-8D1E988D2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848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EFA1F-21BB-7DD0-5A03-3EABC62DA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C7AF52-D025-5B4F-CD51-40BD2402C7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61EB25-702B-B3A1-2203-8E19EB20E5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EA06A-6E0C-3754-8F47-52D7D7902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7EFD7A-346C-3E48-C483-A8CE07968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43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F4B6FE-75B4-7AF2-C29F-4A7A7DB11F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CE118D-2A09-8D48-1FD7-B281FBE8C6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559AD-3AF0-02EC-E0AF-22829E14D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42EEDD-1531-E68F-867F-F45AB0B80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4DE54-0988-E915-DAF5-29D3D47A4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47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669CE1-0455-5B76-E705-995E6C3C5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4A87FF-C67C-ADE9-4FFB-9C37D4BC3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B7C2-8E23-0C43-68DB-622A738AE7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CB8EC-5C29-448C-8D6A-56E8D36DC34F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EA4E9-8DE9-6208-3CF1-E801C91984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35A1F-733A-32CA-15E0-59470C16F7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9B1E26-1188-4481-856A-9509CA53FC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81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8263E-B509-84FC-428C-CF2800373005}"/>
              </a:ext>
            </a:extLst>
          </p:cNvPr>
          <p:cNvSpPr>
            <a:spLocks/>
          </p:cNvSpPr>
          <p:nvPr/>
        </p:nvSpPr>
        <p:spPr>
          <a:xfrm>
            <a:off x="220929" y="1190561"/>
            <a:ext cx="3933761" cy="3845783"/>
          </a:xfrm>
          <a:prstGeom prst="rect">
            <a:avLst/>
          </a:prstGeom>
          <a:solidFill>
            <a:srgbClr val="E4ECF7"/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53B0D8-C8CB-DCCF-70A2-E49DC3223EDE}"/>
              </a:ext>
            </a:extLst>
          </p:cNvPr>
          <p:cNvSpPr txBox="1"/>
          <p:nvPr/>
        </p:nvSpPr>
        <p:spPr>
          <a:xfrm>
            <a:off x="404532" y="1227822"/>
            <a:ext cx="3566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(a) Feature Extraction &amp; Projection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0EBAC23-D582-E9C5-3785-9617B7028C54}"/>
              </a:ext>
            </a:extLst>
          </p:cNvPr>
          <p:cNvSpPr/>
          <p:nvPr/>
        </p:nvSpPr>
        <p:spPr>
          <a:xfrm>
            <a:off x="1864523" y="3730230"/>
            <a:ext cx="1728787" cy="735806"/>
          </a:xfrm>
          <a:prstGeom prst="roundRect">
            <a:avLst/>
          </a:prstGeom>
          <a:solidFill>
            <a:srgbClr val="C2DDEE"/>
          </a:solidFill>
          <a:ln>
            <a:solidFill>
              <a:srgbClr val="6982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MLP Projection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[56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128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256]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31A8D27-2BA0-7275-8E9A-5124CE9A914A}"/>
              </a:ext>
            </a:extLst>
          </p:cNvPr>
          <p:cNvSpPr/>
          <p:nvPr/>
        </p:nvSpPr>
        <p:spPr>
          <a:xfrm>
            <a:off x="1864523" y="2045493"/>
            <a:ext cx="1728787" cy="735806"/>
          </a:xfrm>
          <a:prstGeom prst="roundRect">
            <a:avLst/>
          </a:prstGeom>
          <a:solidFill>
            <a:srgbClr val="C2DDEE"/>
          </a:solidFill>
          <a:ln>
            <a:solidFill>
              <a:srgbClr val="69829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Projection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[768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256]</a:t>
            </a:r>
          </a:p>
        </p:txBody>
      </p:sp>
      <p:pic>
        <p:nvPicPr>
          <p:cNvPr id="11" name="Graphic 10" descr="Voice with solid fill">
            <a:extLst>
              <a:ext uri="{FF2B5EF4-FFF2-40B4-BE49-F238E27FC236}">
                <a16:creationId xmlns:a16="http://schemas.microsoft.com/office/drawing/2014/main" id="{9F0CEBF6-7D9D-3E93-7AA3-6F8FF9DEA2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357" y="2096082"/>
            <a:ext cx="635209" cy="635209"/>
          </a:xfrm>
          <a:prstGeom prst="rect">
            <a:avLst/>
          </a:prstGeom>
        </p:spPr>
      </p:pic>
      <p:pic>
        <p:nvPicPr>
          <p:cNvPr id="12" name="Graphic 11" descr="Voice with solid fill">
            <a:extLst>
              <a:ext uri="{FF2B5EF4-FFF2-40B4-BE49-F238E27FC236}">
                <a16:creationId xmlns:a16="http://schemas.microsoft.com/office/drawing/2014/main" id="{F4493C8F-920D-B77F-F07E-085CB1B402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867094" y="2096081"/>
            <a:ext cx="635209" cy="63520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10BDE3D-A2D5-E6D7-CF33-872F145186C5}"/>
              </a:ext>
            </a:extLst>
          </p:cNvPr>
          <p:cNvSpPr txBox="1"/>
          <p:nvPr/>
        </p:nvSpPr>
        <p:spPr>
          <a:xfrm>
            <a:off x="499796" y="1942191"/>
            <a:ext cx="8001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(Audio)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C41EF7-0E6E-E6F5-6CC3-BA3571146774}"/>
              </a:ext>
            </a:extLst>
          </p:cNvPr>
          <p:cNvSpPr txBox="1"/>
          <p:nvPr/>
        </p:nvSpPr>
        <p:spPr>
          <a:xfrm>
            <a:off x="434171" y="2577403"/>
            <a:ext cx="1002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[B, T, 768]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90F8A-81C5-52D2-125A-AEE35049328D}"/>
              </a:ext>
            </a:extLst>
          </p:cNvPr>
          <p:cNvSpPr txBox="1"/>
          <p:nvPr/>
        </p:nvSpPr>
        <p:spPr>
          <a:xfrm>
            <a:off x="142973" y="3308137"/>
            <a:ext cx="16007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(FLAME params)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F2C77E-9398-917E-AA26-9E2FEEFB83D2}"/>
              </a:ext>
            </a:extLst>
          </p:cNvPr>
          <p:cNvSpPr txBox="1"/>
          <p:nvPr/>
        </p:nvSpPr>
        <p:spPr>
          <a:xfrm>
            <a:off x="398451" y="4609589"/>
            <a:ext cx="1002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[B, T, 56]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F62215D-375C-81CF-65F3-D123F1558F7B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02303" y="2413396"/>
            <a:ext cx="362220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FB939348-3B67-41B1-BE39-966AC063BF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949"/>
          <a:stretch>
            <a:fillRect/>
          </a:stretch>
        </p:blipFill>
        <p:spPr>
          <a:xfrm>
            <a:off x="855740" y="3563065"/>
            <a:ext cx="723029" cy="108230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998F070-23B0-3094-7E86-E1326169CF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08" y="3572945"/>
            <a:ext cx="906578" cy="1036644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2C26643-588D-5E9F-D340-D6A1947D15B6}"/>
              </a:ext>
            </a:extLst>
          </p:cNvPr>
          <p:cNvCxnSpPr>
            <a:cxnSpLocks/>
            <a:stCxn id="27" idx="3"/>
            <a:endCxn id="8" idx="1"/>
          </p:cNvCxnSpPr>
          <p:nvPr/>
        </p:nvCxnSpPr>
        <p:spPr>
          <a:xfrm flipV="1">
            <a:off x="1578769" y="4098133"/>
            <a:ext cx="285754" cy="608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96B6E78A-3A2D-84DF-63F7-170B132A8FEA}"/>
              </a:ext>
            </a:extLst>
          </p:cNvPr>
          <p:cNvSpPr>
            <a:spLocks/>
          </p:cNvSpPr>
          <p:nvPr/>
        </p:nvSpPr>
        <p:spPr>
          <a:xfrm>
            <a:off x="4163381" y="1190560"/>
            <a:ext cx="2816064" cy="3845783"/>
          </a:xfrm>
          <a:prstGeom prst="rect">
            <a:avLst/>
          </a:prstGeom>
          <a:solidFill>
            <a:srgbClr val="F5E3E3"/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75FFBD73-0208-A3F7-8600-668059E36A3B}"/>
              </a:ext>
            </a:extLst>
          </p:cNvPr>
          <p:cNvSpPr/>
          <p:nvPr/>
        </p:nvSpPr>
        <p:spPr>
          <a:xfrm>
            <a:off x="5052526" y="2047873"/>
            <a:ext cx="1552119" cy="735806"/>
          </a:xfrm>
          <a:prstGeom prst="roundRect">
            <a:avLst/>
          </a:prstGeom>
          <a:solidFill>
            <a:srgbClr val="F1CAC5"/>
          </a:solidFill>
          <a:ln>
            <a:solidFill>
              <a:srgbClr val="B489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Multi-Head Cross-Attention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[heads = 8]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F38CCA0-BA50-04A8-2D3C-957C2347CB9C}"/>
              </a:ext>
            </a:extLst>
          </p:cNvPr>
          <p:cNvSpPr/>
          <p:nvPr/>
        </p:nvSpPr>
        <p:spPr>
          <a:xfrm>
            <a:off x="4614590" y="3726059"/>
            <a:ext cx="1552119" cy="735806"/>
          </a:xfrm>
          <a:prstGeom prst="roundRect">
            <a:avLst/>
          </a:prstGeom>
          <a:solidFill>
            <a:srgbClr val="F1CAC5"/>
          </a:solidFill>
          <a:ln>
            <a:solidFill>
              <a:srgbClr val="B4898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Multi-Head Cross-Attention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[heads = 8]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F62AD4-DEE4-82F3-00B4-1A24CC2294ED}"/>
              </a:ext>
            </a:extLst>
          </p:cNvPr>
          <p:cNvSpPr txBox="1"/>
          <p:nvPr/>
        </p:nvSpPr>
        <p:spPr>
          <a:xfrm>
            <a:off x="4232646" y="1195880"/>
            <a:ext cx="27067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(b) Bidirectional Cross-Modal Fusion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FDEDB96-3B04-F8C0-9C95-F9ED590E1ED1}"/>
              </a:ext>
            </a:extLst>
          </p:cNvPr>
          <p:cNvSpPr>
            <a:spLocks/>
          </p:cNvSpPr>
          <p:nvPr/>
        </p:nvSpPr>
        <p:spPr>
          <a:xfrm>
            <a:off x="6966285" y="1190559"/>
            <a:ext cx="2507455" cy="3845783"/>
          </a:xfrm>
          <a:prstGeom prst="rect">
            <a:avLst/>
          </a:prstGeom>
          <a:solidFill>
            <a:srgbClr val="FDEFCA"/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893207A5-5BF2-B0B5-2A4D-6EEDFC9724D7}"/>
              </a:ext>
            </a:extLst>
          </p:cNvPr>
          <p:cNvSpPr/>
          <p:nvPr/>
        </p:nvSpPr>
        <p:spPr>
          <a:xfrm>
            <a:off x="8066227" y="2192887"/>
            <a:ext cx="1303028" cy="441016"/>
          </a:xfrm>
          <a:prstGeom prst="roundRect">
            <a:avLst/>
          </a:prstGeom>
          <a:solidFill>
            <a:srgbClr val="F8E6A6"/>
          </a:solidFill>
          <a:ln>
            <a:solidFill>
              <a:srgbClr val="BEAB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Layer Norm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A516C776-5747-D70B-4E1E-44EFAEBA2572}"/>
              </a:ext>
            </a:extLst>
          </p:cNvPr>
          <p:cNvSpPr/>
          <p:nvPr/>
        </p:nvSpPr>
        <p:spPr>
          <a:xfrm>
            <a:off x="8066227" y="3874758"/>
            <a:ext cx="1303028" cy="441016"/>
          </a:xfrm>
          <a:prstGeom prst="roundRect">
            <a:avLst/>
          </a:prstGeom>
          <a:solidFill>
            <a:srgbClr val="F8E6A6"/>
          </a:solidFill>
          <a:ln>
            <a:solidFill>
              <a:srgbClr val="BEAB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Layer Norm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5C06B89-FA21-36A8-0F5D-409559DD2767}"/>
              </a:ext>
            </a:extLst>
          </p:cNvPr>
          <p:cNvCxnSpPr>
            <a:cxnSpLocks/>
            <a:stCxn id="9" idx="3"/>
            <a:endCxn id="34" idx="1"/>
          </p:cNvCxnSpPr>
          <p:nvPr/>
        </p:nvCxnSpPr>
        <p:spPr>
          <a:xfrm>
            <a:off x="3593310" y="2413396"/>
            <a:ext cx="1459216" cy="238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ED31256-CABE-B976-CCCA-DD66B52B23A4}"/>
              </a:ext>
            </a:extLst>
          </p:cNvPr>
          <p:cNvCxnSpPr>
            <a:cxnSpLocks/>
            <a:stCxn id="8" idx="3"/>
            <a:endCxn id="35" idx="1"/>
          </p:cNvCxnSpPr>
          <p:nvPr/>
        </p:nvCxnSpPr>
        <p:spPr>
          <a:xfrm flipV="1">
            <a:off x="3593310" y="4093962"/>
            <a:ext cx="1021280" cy="417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D3274F4-7FE1-46CB-7CBE-356E71618685}"/>
              </a:ext>
            </a:extLst>
          </p:cNvPr>
          <p:cNvCxnSpPr/>
          <p:nvPr/>
        </p:nvCxnSpPr>
        <p:spPr>
          <a:xfrm>
            <a:off x="3843338" y="2413396"/>
            <a:ext cx="0" cy="53697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E3F56F04-B504-B373-D879-94F7FC648E9D}"/>
              </a:ext>
            </a:extLst>
          </p:cNvPr>
          <p:cNvCxnSpPr>
            <a:cxnSpLocks/>
          </p:cNvCxnSpPr>
          <p:nvPr/>
        </p:nvCxnSpPr>
        <p:spPr>
          <a:xfrm>
            <a:off x="3843338" y="3572945"/>
            <a:ext cx="0" cy="51517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692FD673-2A30-F9EC-6E5E-5F9A1402E096}"/>
              </a:ext>
            </a:extLst>
          </p:cNvPr>
          <p:cNvCxnSpPr>
            <a:cxnSpLocks/>
            <a:endCxn id="34" idx="2"/>
          </p:cNvCxnSpPr>
          <p:nvPr/>
        </p:nvCxnSpPr>
        <p:spPr>
          <a:xfrm flipV="1">
            <a:off x="3828387" y="2783679"/>
            <a:ext cx="2000199" cy="789266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A40F8773-48B6-7E5C-4453-80C178E67810}"/>
              </a:ext>
            </a:extLst>
          </p:cNvPr>
          <p:cNvCxnSpPr>
            <a:cxnSpLocks/>
            <a:endCxn id="35" idx="0"/>
          </p:cNvCxnSpPr>
          <p:nvPr/>
        </p:nvCxnSpPr>
        <p:spPr>
          <a:xfrm>
            <a:off x="3843338" y="2950369"/>
            <a:ext cx="1547312" cy="775690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4" name="Graphic 1033" descr="Badge Follow outline">
            <a:extLst>
              <a:ext uri="{FF2B5EF4-FFF2-40B4-BE49-F238E27FC236}">
                <a16:creationId xmlns:a16="http://schemas.microsoft.com/office/drawing/2014/main" id="{B3C20503-8E26-00A6-D2C6-277EA82A3F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80736" y="2127374"/>
            <a:ext cx="556335" cy="572043"/>
          </a:xfrm>
          <a:prstGeom prst="rect">
            <a:avLst/>
          </a:prstGeom>
        </p:spPr>
      </p:pic>
      <p:pic>
        <p:nvPicPr>
          <p:cNvPr id="1035" name="Graphic 1034" descr="Badge Follow outline">
            <a:extLst>
              <a:ext uri="{FF2B5EF4-FFF2-40B4-BE49-F238E27FC236}">
                <a16:creationId xmlns:a16="http://schemas.microsoft.com/office/drawing/2014/main" id="{80A38AAE-2848-44F9-DA06-575128F699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65622" y="3810025"/>
            <a:ext cx="556335" cy="572043"/>
          </a:xfrm>
          <a:prstGeom prst="rect">
            <a:avLst/>
          </a:prstGeom>
        </p:spPr>
      </p:pic>
      <p:cxnSp>
        <p:nvCxnSpPr>
          <p:cNvPr id="1036" name="Straight Arrow Connector 1035">
            <a:extLst>
              <a:ext uri="{FF2B5EF4-FFF2-40B4-BE49-F238E27FC236}">
                <a16:creationId xmlns:a16="http://schemas.microsoft.com/office/drawing/2014/main" id="{B44B7E43-7FA5-023C-59BA-C1995E717A6B}"/>
              </a:ext>
            </a:extLst>
          </p:cNvPr>
          <p:cNvCxnSpPr>
            <a:cxnSpLocks/>
            <a:stCxn id="34" idx="3"/>
            <a:endCxn id="1034" idx="1"/>
          </p:cNvCxnSpPr>
          <p:nvPr/>
        </p:nvCxnSpPr>
        <p:spPr>
          <a:xfrm flipV="1">
            <a:off x="6604645" y="2413396"/>
            <a:ext cx="576091" cy="238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89918872-7A59-C9B8-A22D-787470DDF6A1}"/>
              </a:ext>
            </a:extLst>
          </p:cNvPr>
          <p:cNvCxnSpPr>
            <a:cxnSpLocks/>
            <a:stCxn id="35" idx="3"/>
            <a:endCxn id="1035" idx="1"/>
          </p:cNvCxnSpPr>
          <p:nvPr/>
        </p:nvCxnSpPr>
        <p:spPr>
          <a:xfrm>
            <a:off x="6166709" y="4093962"/>
            <a:ext cx="998913" cy="2085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7" name="Straight Arrow Connector 1046">
            <a:extLst>
              <a:ext uri="{FF2B5EF4-FFF2-40B4-BE49-F238E27FC236}">
                <a16:creationId xmlns:a16="http://schemas.microsoft.com/office/drawing/2014/main" id="{C9289570-7F7C-EC95-58ED-487A8C51D024}"/>
              </a:ext>
            </a:extLst>
          </p:cNvPr>
          <p:cNvCxnSpPr>
            <a:cxnSpLocks/>
            <a:stCxn id="1034" idx="3"/>
            <a:endCxn id="38" idx="1"/>
          </p:cNvCxnSpPr>
          <p:nvPr/>
        </p:nvCxnSpPr>
        <p:spPr>
          <a:xfrm flipV="1">
            <a:off x="7737071" y="2413395"/>
            <a:ext cx="329156" cy="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0" name="Straight Arrow Connector 1049">
            <a:extLst>
              <a:ext uri="{FF2B5EF4-FFF2-40B4-BE49-F238E27FC236}">
                <a16:creationId xmlns:a16="http://schemas.microsoft.com/office/drawing/2014/main" id="{B8EAF00C-9F37-158D-9FD1-C5C5E4809A97}"/>
              </a:ext>
            </a:extLst>
          </p:cNvPr>
          <p:cNvCxnSpPr>
            <a:cxnSpLocks/>
            <a:stCxn id="1035" idx="3"/>
            <a:endCxn id="39" idx="1"/>
          </p:cNvCxnSpPr>
          <p:nvPr/>
        </p:nvCxnSpPr>
        <p:spPr>
          <a:xfrm flipV="1">
            <a:off x="7721957" y="4095266"/>
            <a:ext cx="344270" cy="78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6" name="Straight Connector 1065">
            <a:extLst>
              <a:ext uri="{FF2B5EF4-FFF2-40B4-BE49-F238E27FC236}">
                <a16:creationId xmlns:a16="http://schemas.microsoft.com/office/drawing/2014/main" id="{DAE1C17D-75A8-22C3-B53F-16ACBE624C4A}"/>
              </a:ext>
            </a:extLst>
          </p:cNvPr>
          <p:cNvCxnSpPr>
            <a:cxnSpLocks/>
          </p:cNvCxnSpPr>
          <p:nvPr/>
        </p:nvCxnSpPr>
        <p:spPr>
          <a:xfrm>
            <a:off x="3845720" y="1942191"/>
            <a:ext cx="0" cy="5063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8" name="Straight Connector 1067">
            <a:extLst>
              <a:ext uri="{FF2B5EF4-FFF2-40B4-BE49-F238E27FC236}">
                <a16:creationId xmlns:a16="http://schemas.microsoft.com/office/drawing/2014/main" id="{2BAF52C0-6FF6-D87C-22D5-7C3197FE7B56}"/>
              </a:ext>
            </a:extLst>
          </p:cNvPr>
          <p:cNvCxnSpPr>
            <a:cxnSpLocks/>
          </p:cNvCxnSpPr>
          <p:nvPr/>
        </p:nvCxnSpPr>
        <p:spPr>
          <a:xfrm>
            <a:off x="3843338" y="4103276"/>
            <a:ext cx="0" cy="50631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0" name="Connector: Elbow 1069">
            <a:extLst>
              <a:ext uri="{FF2B5EF4-FFF2-40B4-BE49-F238E27FC236}">
                <a16:creationId xmlns:a16="http://schemas.microsoft.com/office/drawing/2014/main" id="{B82E8048-704A-CE8C-5351-4B1828A63572}"/>
              </a:ext>
            </a:extLst>
          </p:cNvPr>
          <p:cNvCxnSpPr>
            <a:endCxn id="1034" idx="0"/>
          </p:cNvCxnSpPr>
          <p:nvPr/>
        </p:nvCxnSpPr>
        <p:spPr>
          <a:xfrm>
            <a:off x="3828387" y="1942191"/>
            <a:ext cx="3630517" cy="185183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391117E9-E304-2776-3CA8-3772E24BBA50}"/>
              </a:ext>
            </a:extLst>
          </p:cNvPr>
          <p:cNvCxnSpPr>
            <a:endCxn id="1035" idx="2"/>
          </p:cNvCxnSpPr>
          <p:nvPr/>
        </p:nvCxnSpPr>
        <p:spPr>
          <a:xfrm flipV="1">
            <a:off x="3843338" y="4382068"/>
            <a:ext cx="3600452" cy="227521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TextBox 1072">
            <a:extLst>
              <a:ext uri="{FF2B5EF4-FFF2-40B4-BE49-F238E27FC236}">
                <a16:creationId xmlns:a16="http://schemas.microsoft.com/office/drawing/2014/main" id="{CF4DCF71-6EBE-B0AE-AE9D-55FC118CF3B8}"/>
              </a:ext>
            </a:extLst>
          </p:cNvPr>
          <p:cNvSpPr txBox="1"/>
          <p:nvPr/>
        </p:nvSpPr>
        <p:spPr>
          <a:xfrm>
            <a:off x="6892690" y="1174139"/>
            <a:ext cx="270677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(c) Residual Fusion &amp; Norm </a:t>
            </a: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C0F92EE5-43B2-FC8E-6AA1-76478D1CF86C}"/>
              </a:ext>
            </a:extLst>
          </p:cNvPr>
          <p:cNvSpPr txBox="1"/>
          <p:nvPr/>
        </p:nvSpPr>
        <p:spPr>
          <a:xfrm>
            <a:off x="8246076" y="2654882"/>
            <a:ext cx="1002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[B, T, 256]</a:t>
            </a:r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092F4086-C88D-7602-A229-268109B0D4F0}"/>
              </a:ext>
            </a:extLst>
          </p:cNvPr>
          <p:cNvSpPr txBox="1"/>
          <p:nvPr/>
        </p:nvSpPr>
        <p:spPr>
          <a:xfrm>
            <a:off x="8230114" y="4326327"/>
            <a:ext cx="10027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[B, T, 256]</a:t>
            </a:r>
          </a:p>
        </p:txBody>
      </p:sp>
      <p:sp>
        <p:nvSpPr>
          <p:cNvPr id="1076" name="Rectangle 1075">
            <a:extLst>
              <a:ext uri="{FF2B5EF4-FFF2-40B4-BE49-F238E27FC236}">
                <a16:creationId xmlns:a16="http://schemas.microsoft.com/office/drawing/2014/main" id="{739FCB7A-8227-6214-17EC-F8F100E01605}"/>
              </a:ext>
            </a:extLst>
          </p:cNvPr>
          <p:cNvSpPr>
            <a:spLocks/>
          </p:cNvSpPr>
          <p:nvPr/>
        </p:nvSpPr>
        <p:spPr>
          <a:xfrm>
            <a:off x="9470681" y="1190558"/>
            <a:ext cx="2507455" cy="3845783"/>
          </a:xfrm>
          <a:prstGeom prst="rect">
            <a:avLst/>
          </a:prstGeom>
          <a:solidFill>
            <a:srgbClr val="DDEAD6"/>
          </a:solidFill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78" name="Rectangle: Rounded Corners 1077">
            <a:extLst>
              <a:ext uri="{FF2B5EF4-FFF2-40B4-BE49-F238E27FC236}">
                <a16:creationId xmlns:a16="http://schemas.microsoft.com/office/drawing/2014/main" id="{22F8820F-96D7-0F91-B865-52D7952DD769}"/>
              </a:ext>
            </a:extLst>
          </p:cNvPr>
          <p:cNvSpPr/>
          <p:nvPr/>
        </p:nvSpPr>
        <p:spPr>
          <a:xfrm>
            <a:off x="10543012" y="2279081"/>
            <a:ext cx="1086782" cy="450030"/>
          </a:xfrm>
          <a:prstGeom prst="roundRect">
            <a:avLst/>
          </a:prstGeom>
          <a:solidFill>
            <a:srgbClr val="C4E0BA"/>
          </a:solidFill>
          <a:ln>
            <a:solidFill>
              <a:srgbClr val="778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LSTM</a:t>
            </a:r>
          </a:p>
        </p:txBody>
      </p:sp>
      <p:sp>
        <p:nvSpPr>
          <p:cNvPr id="1079" name="TextBox 1078">
            <a:extLst>
              <a:ext uri="{FF2B5EF4-FFF2-40B4-BE49-F238E27FC236}">
                <a16:creationId xmlns:a16="http://schemas.microsoft.com/office/drawing/2014/main" id="{87DDD1F7-5BDB-6F68-20BA-C1BB181854C7}"/>
              </a:ext>
            </a:extLst>
          </p:cNvPr>
          <p:cNvSpPr txBox="1"/>
          <p:nvPr/>
        </p:nvSpPr>
        <p:spPr>
          <a:xfrm>
            <a:off x="9367649" y="1183046"/>
            <a:ext cx="27067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(d) Temporal LSTM</a:t>
            </a:r>
          </a:p>
        </p:txBody>
      </p:sp>
      <p:sp>
        <p:nvSpPr>
          <p:cNvPr id="1080" name="Rectangle: Rounded Corners 1079">
            <a:extLst>
              <a:ext uri="{FF2B5EF4-FFF2-40B4-BE49-F238E27FC236}">
                <a16:creationId xmlns:a16="http://schemas.microsoft.com/office/drawing/2014/main" id="{3F1102ED-6C46-84DB-2A92-2FA1BFAACF2A}"/>
              </a:ext>
            </a:extLst>
          </p:cNvPr>
          <p:cNvSpPr/>
          <p:nvPr/>
        </p:nvSpPr>
        <p:spPr>
          <a:xfrm>
            <a:off x="8934548" y="3045827"/>
            <a:ext cx="1317276" cy="584774"/>
          </a:xfrm>
          <a:prstGeom prst="roundRect">
            <a:avLst/>
          </a:prstGeom>
          <a:solidFill>
            <a:srgbClr val="C4E0BA"/>
          </a:solidFill>
          <a:ln>
            <a:solidFill>
              <a:srgbClr val="778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Concatenate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[B, T, 512]</a:t>
            </a:r>
          </a:p>
        </p:txBody>
      </p:sp>
      <p:sp>
        <p:nvSpPr>
          <p:cNvPr id="1081" name="Rectangle: Rounded Corners 1080">
            <a:extLst>
              <a:ext uri="{FF2B5EF4-FFF2-40B4-BE49-F238E27FC236}">
                <a16:creationId xmlns:a16="http://schemas.microsoft.com/office/drawing/2014/main" id="{E650B0D1-4F9C-7586-7EC5-EDEF4AA49401}"/>
              </a:ext>
            </a:extLst>
          </p:cNvPr>
          <p:cNvSpPr/>
          <p:nvPr/>
        </p:nvSpPr>
        <p:spPr>
          <a:xfrm>
            <a:off x="10244740" y="3572945"/>
            <a:ext cx="1683326" cy="730764"/>
          </a:xfrm>
          <a:prstGeom prst="roundRect">
            <a:avLst/>
          </a:prstGeom>
          <a:solidFill>
            <a:srgbClr val="C4E0BA"/>
          </a:solidFill>
          <a:ln>
            <a:solidFill>
              <a:srgbClr val="778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Projection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[512 </a:t>
            </a:r>
            <a:r>
              <a: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56]</a:t>
            </a:r>
            <a:endParaRPr lang="en-US" sz="1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3450C31C-6481-FBB1-41B5-786E2C43BB47}"/>
              </a:ext>
            </a:extLst>
          </p:cNvPr>
          <p:cNvCxnSpPr>
            <a:endCxn id="1080" idx="0"/>
          </p:cNvCxnSpPr>
          <p:nvPr/>
        </p:nvCxnSpPr>
        <p:spPr>
          <a:xfrm rot="16200000" flipH="1">
            <a:off x="9164201" y="2616842"/>
            <a:ext cx="632432" cy="225537"/>
          </a:xfrm>
          <a:prstGeom prst="bentConnector3">
            <a:avLst>
              <a:gd name="adj1" fmla="val -2488"/>
            </a:avLst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7" name="Connector: Elbow 1086">
            <a:extLst>
              <a:ext uri="{FF2B5EF4-FFF2-40B4-BE49-F238E27FC236}">
                <a16:creationId xmlns:a16="http://schemas.microsoft.com/office/drawing/2014/main" id="{1A0ED57F-5FE5-D433-0A1C-DD64A46A9CE0}"/>
              </a:ext>
            </a:extLst>
          </p:cNvPr>
          <p:cNvCxnSpPr>
            <a:stCxn id="39" idx="3"/>
            <a:endCxn id="1080" idx="2"/>
          </p:cNvCxnSpPr>
          <p:nvPr/>
        </p:nvCxnSpPr>
        <p:spPr>
          <a:xfrm flipV="1">
            <a:off x="9369255" y="3630601"/>
            <a:ext cx="223931" cy="464665"/>
          </a:xfrm>
          <a:prstGeom prst="bentConnector2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9" name="Connector: Elbow 1088">
            <a:extLst>
              <a:ext uri="{FF2B5EF4-FFF2-40B4-BE49-F238E27FC236}">
                <a16:creationId xmlns:a16="http://schemas.microsoft.com/office/drawing/2014/main" id="{A39DBEB7-0A65-2023-A3F8-40AA7A749F42}"/>
              </a:ext>
            </a:extLst>
          </p:cNvPr>
          <p:cNvCxnSpPr>
            <a:cxnSpLocks/>
            <a:stCxn id="1080" idx="3"/>
            <a:endCxn id="1078" idx="1"/>
          </p:cNvCxnSpPr>
          <p:nvPr/>
        </p:nvCxnSpPr>
        <p:spPr>
          <a:xfrm flipV="1">
            <a:off x="10251824" y="2504096"/>
            <a:ext cx="291188" cy="834118"/>
          </a:xfrm>
          <a:prstGeom prst="bentConnector3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Straight Arrow Connector 1090">
            <a:extLst>
              <a:ext uri="{FF2B5EF4-FFF2-40B4-BE49-F238E27FC236}">
                <a16:creationId xmlns:a16="http://schemas.microsoft.com/office/drawing/2014/main" id="{EA182B90-4FC3-FC33-C234-F37D3DEFC5CA}"/>
              </a:ext>
            </a:extLst>
          </p:cNvPr>
          <p:cNvCxnSpPr>
            <a:cxnSpLocks/>
            <a:stCxn id="1078" idx="2"/>
            <a:endCxn id="1081" idx="0"/>
          </p:cNvCxnSpPr>
          <p:nvPr/>
        </p:nvCxnSpPr>
        <p:spPr>
          <a:xfrm>
            <a:off x="11086403" y="2729111"/>
            <a:ext cx="0" cy="84383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4" name="TextBox 1093">
            <a:extLst>
              <a:ext uri="{FF2B5EF4-FFF2-40B4-BE49-F238E27FC236}">
                <a16:creationId xmlns:a16="http://schemas.microsoft.com/office/drawing/2014/main" id="{64E9318A-5B0D-5EE5-DE05-E88358ABE585}"/>
              </a:ext>
            </a:extLst>
          </p:cNvPr>
          <p:cNvSpPr txBox="1"/>
          <p:nvPr/>
        </p:nvSpPr>
        <p:spPr>
          <a:xfrm>
            <a:off x="10327477" y="1955957"/>
            <a:ext cx="14333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 stacks layers</a:t>
            </a:r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7D904DF1-05DA-633C-A0A7-2003773EA20E}"/>
              </a:ext>
            </a:extLst>
          </p:cNvPr>
          <p:cNvSpPr txBox="1"/>
          <p:nvPr/>
        </p:nvSpPr>
        <p:spPr>
          <a:xfrm>
            <a:off x="10310482" y="4556062"/>
            <a:ext cx="15562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FLAME Parameters 56D </a:t>
            </a:r>
          </a:p>
        </p:txBody>
      </p:sp>
      <p:cxnSp>
        <p:nvCxnSpPr>
          <p:cNvPr id="1102" name="Straight Arrow Connector 1101">
            <a:extLst>
              <a:ext uri="{FF2B5EF4-FFF2-40B4-BE49-F238E27FC236}">
                <a16:creationId xmlns:a16="http://schemas.microsoft.com/office/drawing/2014/main" id="{22AB7541-7F95-8ACD-365C-F8BD64B97307}"/>
              </a:ext>
            </a:extLst>
          </p:cNvPr>
          <p:cNvCxnSpPr>
            <a:cxnSpLocks/>
            <a:stCxn id="1081" idx="2"/>
            <a:endCxn id="1101" idx="0"/>
          </p:cNvCxnSpPr>
          <p:nvPr/>
        </p:nvCxnSpPr>
        <p:spPr>
          <a:xfrm>
            <a:off x="11086403" y="4303709"/>
            <a:ext cx="2186" cy="25235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2408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116</Words>
  <Application>Microsoft Office PowerPoint</Application>
  <PresentationFormat>Widescreen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Aditya Kotha</dc:creator>
  <cp:lastModifiedBy>Aditya Kotha</cp:lastModifiedBy>
  <cp:revision>6</cp:revision>
  <dcterms:created xsi:type="dcterms:W3CDTF">2026-03-08T17:42:12Z</dcterms:created>
  <dcterms:modified xsi:type="dcterms:W3CDTF">2026-03-08T18:51:57Z</dcterms:modified>
</cp:coreProperties>
</file>